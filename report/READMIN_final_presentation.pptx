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5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79" r:id="rId14"/>
    <p:sldId id="267" r:id="rId15"/>
    <p:sldId id="268" r:id="rId16"/>
    <p:sldId id="270" r:id="rId17"/>
    <p:sldId id="271" r:id="rId18"/>
    <p:sldId id="273" r:id="rId19"/>
    <p:sldId id="276" r:id="rId20"/>
    <p:sldId id="277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D2B89E-917B-510D-8EDE-A820A1228CC4}" v="180" dt="2026-05-13T05:26:25.270"/>
    <p1510:client id="{30A4767E-0879-5DBC-0E0B-2068CDD8E088}" v="1" dt="2026-05-13T22:25:57.765"/>
    <p1510:client id="{4DB5DDD5-6113-42F1-5B5D-46E233E5EB92}" v="53" dt="2026-05-13T22:23:32.332"/>
    <p1510:client id="{8AF84561-09E1-C2F3-504E-D1291FFC420C}" v="2" dt="2026-05-13T21:45:09.713"/>
    <p1510:client id="{D72A0A0B-5601-A5CB-D1FA-CE5E4D7155B5}" v="2" dt="2026-05-13T22:24:28.610"/>
    <p1510:client id="{EA23AE27-454C-5616-00E4-BACD555E3075}" v="1030" dt="2026-05-13T21:51:11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295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98C5-0B07-B94F-1B85-1404E182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6D369-1DFA-8F98-2EAF-5C0D326F6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B036F-9103-3BDA-B89F-8AB94DEDA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F1A1D-F3D6-B235-9D91-E4AA7CA4E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RE-ADMIN</a:t>
            </a:r>
            <a:endParaRPr lang="en-US" sz="640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Readmission Risk &amp; Intervention System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2286000" cy="45720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Hofstra University</a:t>
            </a:r>
            <a:endParaRPr lang="en-US" sz="1100"/>
          </a:p>
          <a:p>
            <a:pPr marL="0" indent="0">
              <a:buNone/>
            </a:pPr>
            <a:r>
              <a:rPr lang="en-US" sz="105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Purna Prasad  ·  MIMIC-IV Demo v2.2  ·  May 2026</a:t>
            </a:r>
            <a:br>
              <a:rPr lang="en-US" sz="105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Shreedhar Patel · Aaliya Ailan · Timothy Menz · Imran Khan · </a:t>
            </a:r>
            <a:r>
              <a:rPr lang="en-US" sz="1050" err="1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Dhruvkumar</a:t>
            </a:r>
            <a:r>
              <a:rPr lang="en-US" sz="105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Rathod · Keving Pierre · </a:t>
            </a:r>
            <a:r>
              <a:rPr lang="en-US" sz="1050" err="1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Jinalkumari</a:t>
            </a:r>
            <a:r>
              <a:rPr lang="en-US" sz="105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Vaniya · Happy Patel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Six Sections, One Integrated System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51760" cy="640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70078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 problem · HRRP penalties · 15–20% ICU readmit rate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18688" y="15727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572768"/>
            <a:ext cx="2651760" cy="640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70078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Outputs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328416" y="201168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features · 4 models · ROC-AUC 0.607 · SHAP per patient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071616" y="1572768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71616" y="1572768"/>
            <a:ext cx="26517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700784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181344" y="2011680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tabs · ⓘ info buttons · real CSV · Streamlit Cloud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365760" y="314553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2651760" cy="6400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Interventions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75488" y="358444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not prescriptions · Timeline · CMS HRRP alignment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218688" y="314553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8688" y="3145536"/>
            <a:ext cx="2651760" cy="6400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28416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Layer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328416" y="358444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 (patient SMS) · Vedi (clinician) · JSON contract · audit log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6071616" y="3145536"/>
            <a:ext cx="26517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71616" y="3145536"/>
            <a:ext cx="2651760" cy="640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327355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Market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181344" y="3584448"/>
            <a:ext cx="24323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differentiators · SWOT · $3.95B → $8.1B market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7956B-BF55-EE30-2476-137A11C9096B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Readmissions: A Costly, Regulated Problem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Policy landscape across Medicare, Medicaid and private insurance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92024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70078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cost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readmissions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395728" y="1572768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95728" y="1572768"/>
            <a:ext cx="192024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170078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2468880" y="2194560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30-day rate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468880" y="24323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baseline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425696" y="1572768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25696" y="1572768"/>
            <a:ext cx="192024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8848" y="170078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4498848" y="2194560"/>
            <a:ext cx="1773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HRRP penalty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498848" y="24323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Medicare cut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455664" y="1572768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5664" y="1572768"/>
            <a:ext cx="192024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28816" y="170078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3000"/>
          </a:p>
        </p:txBody>
      </p:sp>
      <p:sp>
        <p:nvSpPr>
          <p:cNvPr id="25" name="Text 23"/>
          <p:cNvSpPr/>
          <p:nvPr/>
        </p:nvSpPr>
        <p:spPr>
          <a:xfrm>
            <a:off x="6528816" y="2194560"/>
            <a:ext cx="1773936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Hospitals penalized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528816" y="2432304"/>
            <a:ext cx="1773936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2026 — rising from 7% in 2025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65760" y="2980944"/>
            <a:ext cx="26974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2980944"/>
            <a:ext cx="269748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(HRRP)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3776" y="3419856"/>
            <a:ext cx="24414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30-day readmissions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fined up to 3% of Medicare payments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care &amp; follow-up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readmissions decreased — but fairness concerns remain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218688" y="2980944"/>
            <a:ext cx="26974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18688" y="2980944"/>
            <a:ext cx="269748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46704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Medicaid (PPR)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51761" y="3531120"/>
            <a:ext cx="2436391" cy="945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14-day preventable readmissions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state-specific clinical classification rules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receive payment reductions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planned admissions and major trauma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071616" y="2980944"/>
            <a:ext cx="26974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71616" y="2980944"/>
            <a:ext cx="269748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99632" y="3108960"/>
            <a:ext cx="244144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Insurance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99632" y="3480546"/>
            <a:ext cx="2441448" cy="9914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national policy — highly variable</a:t>
            </a:r>
            <a:endParaRPr lang="en-US" sz="1000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bundled payments and contractual strategies</a:t>
            </a:r>
            <a:endParaRPr lang="en-US" sz="1000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approaches aim to reduce unnecessary returns</a:t>
            </a:r>
            <a:endParaRPr lang="en-US" sz="1000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consistent enforcement than public payers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6BC516-9038-472D-53C8-175E43636FD2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READMIN: 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End-to-End from ICU Discharge to Care Action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5361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536192" cy="402336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Hospital Data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38912" y="2322576"/>
            <a:ext cx="1389888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MIMIC-IV tables</a:t>
            </a:r>
            <a:endParaRPr lang="en-US" sz="950">
              <a:ea typeface="Calibri" panose="020F0502020204030204"/>
              <a:cs typeface="Calibri" panose="020F0502020204030204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800,000+ records</a:t>
            </a:r>
            <a:endParaRPr lang="en-US" sz="9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01952" y="233172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4832" y="1572768"/>
            <a:ext cx="15361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4832" y="1572768"/>
            <a:ext cx="1536192" cy="40233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84832" y="157276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2157984" y="201168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Clinical Features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341086" y="2322576"/>
            <a:ext cx="1389888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Labs 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Vitals 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Diagnoses</a:t>
            </a:r>
            <a:endParaRPr lang="en-US" sz="950"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Meds </a:t>
            </a:r>
            <a:endParaRPr lang="en-US" sz="9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Trends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21024" y="233172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03904" y="1572768"/>
            <a:ext cx="15361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1572768"/>
            <a:ext cx="1536192" cy="40233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03904" y="157276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3877056" y="2011680"/>
            <a:ext cx="1389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877056" y="2322576"/>
            <a:ext cx="1389888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compared</a:t>
            </a:r>
            <a:endParaRPr lang="en-US" sz="950">
              <a:ea typeface="Calibri" panose="020F0502020204030204"/>
              <a:cs typeface="Calibri" panose="020F0502020204030204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Logistic Regression wins</a:t>
            </a:r>
            <a:endParaRPr lang="en-US" sz="950">
              <a:solidFill>
                <a:srgbClr val="64748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340096" y="233172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22976" y="1572768"/>
            <a:ext cx="15361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1572768"/>
            <a:ext cx="1536192" cy="40233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22976" y="157276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5596128" y="2011680"/>
            <a:ext cx="138988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Risk Scores of  0–100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96128" y="2322576"/>
            <a:ext cx="13898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100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patient's score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7059168" y="233172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42048" y="1572768"/>
            <a:ext cx="153619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42048" y="1572768"/>
            <a:ext cx="1536192" cy="402336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42048" y="157276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7315200" y="2061617"/>
            <a:ext cx="138988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Care Tier Recognized + Actions Taken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7315200" y="2416901"/>
            <a:ext cx="1389888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LOW / MED / HIGH category</a:t>
            </a:r>
            <a:endParaRPr lang="en-US" sz="950">
              <a:solidFill>
                <a:srgbClr val="64748B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 algn="ctr">
              <a:buFont typeface="Arial"/>
              <a:buChar char="•"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Relevant Protocol Triggered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Upon ICU discharge recommendation, the engine examines patient EHR, then computes a score ranging from </a:t>
            </a:r>
            <a:r>
              <a:rPr lang="en-US" sz="1150" b="1" err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0-100, and</a:t>
            </a:r>
            <a:r>
              <a:rPr lang="en-US" sz="11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 automatically </a:t>
            </a:r>
            <a:r>
              <a:rPr lang="en-US" sz="1150" b="1" err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triggers </a:t>
            </a:r>
            <a:r>
              <a:rPr lang="en-US" sz="11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the relevant guideline-approved care protocol.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201168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0–100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2084832" y="3803904"/>
            <a:ext cx="201168" cy="20116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40864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 / LOW tier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803904" y="3803904"/>
            <a:ext cx="201168" cy="20116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59936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top 3 drivers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5522976" y="3803904"/>
            <a:ext cx="201168" cy="20116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79008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care plan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7242048" y="3803904"/>
            <a:ext cx="201168" cy="20116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98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Bot layer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8B0C96-7B2C-0FFD-E244-740CA06DE9FA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OUTPUTS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Scoring Engine Works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clinical features → ML model → risk score → care tier</a:t>
            </a:r>
            <a:endParaRPr lang="en-US" sz="12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6400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2432304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Signs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1975104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 · Blood pressure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O₂ saturation · Trends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18688" y="1572768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651760" cy="640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1691640"/>
            <a:ext cx="2432304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28416" y="1975104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· Lactate · WBC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· Sodium · BUN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071616" y="1572768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71616" y="1572768"/>
            <a:ext cx="2651760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1344" y="16916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181344" y="1975104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· CKD · COPD · Diabetes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· ICD code count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2651760" cy="6400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Severity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75488" y="358444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flag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 flag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length of stay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218688" y="3182112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18688" y="3182112"/>
            <a:ext cx="2651760" cy="64008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28416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Elixhauser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3328416" y="358444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6-condition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index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(ICD-10 mapped)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6071616" y="3182112"/>
            <a:ext cx="2651760" cy="1426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71616" y="3182112"/>
            <a:ext cx="2651760" cy="640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81344" y="33009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6181344" y="358444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drug count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discharge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(polypharmacy flag)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365760" y="4608576"/>
            <a:ext cx="8412480" cy="201168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" y="4700016"/>
            <a:ext cx="8156448" cy="182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Note: Built on MIMIC-IV Demo (100 patients). Full MIMIC-IV dataset (315K patients) is projected to improve ROC-AUC from 0.607 to 0.75–0.82.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16626C-B9B3-7C1E-D291-3AE862AD5777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OUTPUTS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Results — 100 Real ICU Patients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achieved and what the numbers mean</a:t>
            </a:r>
            <a:endParaRPr lang="en-US" sz="12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93852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938528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70078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0.607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(30-day)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38912" y="24323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0.80 on full dataset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450592" y="1572768"/>
            <a:ext cx="193852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1572768"/>
            <a:ext cx="1938528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23744" y="170078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0.370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2523744" y="219456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(30-day)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2523744" y="24323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 above 0.15 random baseline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535424" y="1572768"/>
            <a:ext cx="193852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35424" y="1572768"/>
            <a:ext cx="1938528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08576" y="170078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0.696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4608576" y="219456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(90-day)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608576" y="24323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window — chronic disease signal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620256" y="1572768"/>
            <a:ext cx="1938528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0256" y="1572768"/>
            <a:ext cx="1938528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93408" y="1700784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</a:t>
            </a:r>
            <a:endParaRPr lang="en-US" sz="3000"/>
          </a:p>
        </p:txBody>
      </p:sp>
      <p:sp>
        <p:nvSpPr>
          <p:cNvPr id="25" name="Text 23"/>
          <p:cNvSpPr/>
          <p:nvPr/>
        </p:nvSpPr>
        <p:spPr>
          <a:xfrm>
            <a:off x="6693408" y="219456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(90-day)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693408" y="24323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above 0.18 random baseline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416052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" y="3054096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PR-AUC matters here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493776" y="3270667"/>
            <a:ext cx="3904488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15% of patients were readmitted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 model guessing 'no readmission' every time is correct 85% of the time — but clinically useless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measures how well the model catches rare high-risk cases specifically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Random guess scores: 0.15.  Our model was 2.5x better: 0.37 </a:t>
            </a:r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40690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2926080"/>
            <a:ext cx="406908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37176" y="2999232"/>
            <a:ext cx="3813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— Highest Risk Score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4837176" y="3319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181344" y="331927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 / 100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837176" y="3593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181344" y="3593592"/>
            <a:ext cx="2505456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HIGH           intervention triggered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37176" y="38679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6181344" y="386791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code count · HR trend · Blood pressure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4837176" y="41422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outcome: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6181344" y="414223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Readmitted within 30 days — model was correct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365760" y="4608576"/>
            <a:ext cx="8412480" cy="201168"/>
          </a:xfrm>
          <a:prstGeom prst="rect">
            <a:avLst/>
          </a:prstGeom>
          <a:solidFill>
            <a:srgbClr val="FFF3CD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leakage corrected: SMOTE was moved inside CV folds. Pre-fix inflated ROC-AUC was 0.972. Post-fix honest score: 0.607 — valid for academic proof-of-concept.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20A800-6092-7A81-DCAF-D8374D5CCEBB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47" name="Graphic 46" descr="Arrow: Straight with solid fill">
            <a:extLst>
              <a:ext uri="{FF2B5EF4-FFF2-40B4-BE49-F238E27FC236}">
                <a16:creationId xmlns:a16="http://schemas.microsoft.com/office/drawing/2014/main" id="{5C976770-B5BB-0ACF-8E6C-DFAF38BE5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583903" y="3596013"/>
            <a:ext cx="220833" cy="248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8-Tab </a:t>
            </a:r>
            <a:r>
              <a:rPr lang="en-US" sz="28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Dashboard — Built for Clinicians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Every technical term has a plain-English ⓘ info button — no data science background required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975104" cy="6400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tier donut, pipeline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523744" y="157276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1572768"/>
            <a:ext cx="1975104" cy="640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23744" y="1572768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23744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2615184" y="197510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Breakdown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615184" y="22677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bars, histogram, scatter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681728" y="157276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1572768"/>
            <a:ext cx="1975104" cy="640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1572768"/>
            <a:ext cx="347472" cy="3474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73168" y="197510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773168" y="22677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 leakage fix, AUC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839712" y="157276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39712" y="1572768"/>
            <a:ext cx="1975104" cy="6400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39712" y="1572768"/>
            <a:ext cx="347472" cy="34747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39712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6931152" y="197510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931152" y="22677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frequency chart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365760" y="312724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127248"/>
            <a:ext cx="1975104" cy="6400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35" name="Text 33"/>
          <p:cNvSpPr/>
          <p:nvPr/>
        </p:nvSpPr>
        <p:spPr>
          <a:xfrm>
            <a:off x="457200" y="35295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Windows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457200" y="38221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comparison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2523744" y="312724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23744" y="3127248"/>
            <a:ext cx="1975104" cy="64008"/>
          </a:xfrm>
          <a:prstGeom prst="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23744" y="3127248"/>
            <a:ext cx="347472" cy="347472"/>
          </a:xfrm>
          <a:prstGeom prst="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23744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/>
          </a:p>
        </p:txBody>
      </p:sp>
      <p:sp>
        <p:nvSpPr>
          <p:cNvPr id="41" name="Text 39"/>
          <p:cNvSpPr/>
          <p:nvPr/>
        </p:nvSpPr>
        <p:spPr>
          <a:xfrm>
            <a:off x="2615184" y="35295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2615184" y="38221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cards + timeline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681728" y="312724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81728" y="3127248"/>
            <a:ext cx="1975104" cy="640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81728" y="3127248"/>
            <a:ext cx="347472" cy="34747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81728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/>
          </a:p>
        </p:txBody>
      </p:sp>
      <p:sp>
        <p:nvSpPr>
          <p:cNvPr id="47" name="Text 45"/>
          <p:cNvSpPr/>
          <p:nvPr/>
        </p:nvSpPr>
        <p:spPr>
          <a:xfrm>
            <a:off x="4773168" y="35295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Lookup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773168" y="38221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Gauge, drivers, care plan</a:t>
            </a:r>
            <a:endParaRPr lang="en-US" sz="950"/>
          </a:p>
        </p:txBody>
      </p:sp>
      <p:sp>
        <p:nvSpPr>
          <p:cNvPr id="49" name="Shape 47"/>
          <p:cNvSpPr/>
          <p:nvPr/>
        </p:nvSpPr>
        <p:spPr>
          <a:xfrm>
            <a:off x="6839712" y="3127248"/>
            <a:ext cx="197510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839712" y="3127248"/>
            <a:ext cx="1975104" cy="64008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839712" y="3127248"/>
            <a:ext cx="347472" cy="347472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39712" y="3127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/>
          </a:p>
        </p:txBody>
      </p:sp>
      <p:sp>
        <p:nvSpPr>
          <p:cNvPr id="53" name="Text 51"/>
          <p:cNvSpPr/>
          <p:nvPr/>
        </p:nvSpPr>
        <p:spPr>
          <a:xfrm>
            <a:off x="6931152" y="352958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6931152" y="382219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terms, plain English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3776" y="4700016"/>
            <a:ext cx="8156448" cy="155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ⓘ  Every chart and metric card includes a popover info button — click for a 2-line plain-English explanation + Glossary link. 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000" i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      Live direct CSV upload supported in sidebar.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14A6BC-0721-71C9-A93F-E4B04B01D3B9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Overview Tab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Real READMIN deployment on </a:t>
            </a:r>
            <a:r>
              <a:rPr lang="en-US" sz="12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Cloud with MIMIC-IV demo data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pic>
        <p:nvPicPr>
          <p:cNvPr id="7" name="Image 0" descr="/home/claude/dashboard_screensho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508760"/>
            <a:ext cx="841248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782312"/>
            <a:ext cx="8412480" cy="128016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4782312"/>
            <a:ext cx="8229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READMIN Dashboard — Overview tab showing 140 ICU patients, risk tier distribution, 6 KPI metrics, and the pipeline summary. Tab navigation across 8 sections.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6492B-7337-1F30-695F-C6F111A965A1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Integration &amp; Smart Column Mapping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The dashboard auto-handles the real pipeline CSV schema, with no manual adjustment needed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16052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390448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CSV schema → internal names (auto-remapped)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" y="2011680"/>
            <a:ext cx="3904488" cy="120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stay_id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patient_id</a:t>
            </a:r>
            <a:endParaRPr lang="en-US" sz="10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readmit_prob_30d  → 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readmit_prob</a:t>
            </a:r>
            <a:endParaRPr lang="en-US" sz="10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interventions  → 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intervention_plan</a:t>
            </a:r>
            <a:endParaRPr lang="en-US" sz="100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top_risk_drivers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top_shap_drivers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(auto-translated into plain English)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572768"/>
            <a:ext cx="406908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700784"/>
            <a:ext cx="381304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translation — 29 raw → plain English mappings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37176" y="2011680"/>
            <a:ext cx="3813048" cy="120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vital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sbp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mean  →  'Blood pressure (avg systolic)'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has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chf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→  'Congestive Heart Failure (CHF)'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lactate  →  'Lactate trend (rising/falling)'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 prior </a:t>
            </a:r>
            <a:r>
              <a:rPr lang="en-US" sz="10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icu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→  'Prior ICU admissions'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26974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3547872"/>
            <a:ext cx="2441448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" y="3858768"/>
            <a:ext cx="244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≥1.32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≥5.20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≥2.0 / NumPy ≥1.26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218688" y="3419856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3419856"/>
            <a:ext cx="269748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46704" y="354787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3346704" y="3858768"/>
            <a:ext cx="244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Streamlit Cloud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auto-installs deps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Auto-redeploy on every git push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6071616" y="3419856"/>
            <a:ext cx="26974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71616" y="3419856"/>
            <a:ext cx="269748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99632" y="3547872"/>
            <a:ext cx="244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199632" y="3858768"/>
            <a:ext cx="244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CSV uploader for live data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auto-loads if no file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shows Live vs Demo status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6274ED-A1C1-C3A3-9F58-506529124A21}"/>
              </a:ext>
            </a:extLst>
          </p:cNvPr>
          <p:cNvSpPr txBox="1"/>
          <p:nvPr/>
        </p:nvSpPr>
        <p:spPr>
          <a:xfrm>
            <a:off x="8720782" y="51770"/>
            <a:ext cx="371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INTERVENTIONS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Care Plans — Risk Score to Clinical Action</a:t>
            </a:r>
            <a:endParaRPr lang="en-US" sz="2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51760" cy="38404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HIGH RISK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patients (15%)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93776" y="2596896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call within 24 hours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appointment within 7 days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 referral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SMS health check-ins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572768"/>
            <a:ext cx="2651760" cy="38404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18688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RISK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310128" y="19933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40–69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3310128" y="232257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patients (20%)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3346704" y="2596896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call within 48 hours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appointment within 14 days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medication reconciliation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071616" y="1572768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71616" y="1572768"/>
            <a:ext cx="2651760" cy="384048"/>
          </a:xfrm>
          <a:prstGeom prst="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71616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LOW RISK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163056" y="19933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0–39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6163056" y="232257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patients (65%)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199632" y="2596896"/>
            <a:ext cx="23957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discharge instructions</a:t>
            </a:r>
            <a:endParaRPr lang="en-US" sz="10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message at Day 7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65760" y="39867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tiers, not individual prescriptions: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65760" y="4279392"/>
            <a:ext cx="841248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Walsh et al. (2022): 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Randomized trials testing specific readmission-reduction programs have largely shown no significant effect because the ICU population is too heterogeneous. READMIN provides a risk signal alert and triage tier — the specific clinical management remains a clinician's decision.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098977-CBE8-0587-3F36-D154D0D77117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INTERVENTIONS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Why the Bot Cannot Give Case-Specific Interventions — Yet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082676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Four compounding limitations that make individual advisement and prescription unsafe at this current stage</a:t>
            </a:r>
            <a:endParaRPr lang="en-US" sz="125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517904"/>
            <a:ext cx="813816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7B4F00"/>
                </a:solidFill>
                <a:latin typeface="Calibri"/>
                <a:ea typeface="Calibri"/>
                <a:cs typeface="Calibri"/>
              </a:rPr>
              <a:t>Clinical evidence: </a:t>
            </a:r>
            <a:r>
              <a:rPr lang="en-US" sz="1000">
                <a:solidFill>
                  <a:srgbClr val="7B4F00"/>
                </a:solidFill>
                <a:latin typeface="Calibri"/>
                <a:ea typeface="Calibri"/>
                <a:cs typeface="Calibri"/>
              </a:rPr>
              <a:t>Walsh et al. (2022) found that randomized trials testing ICU readmission-reduction programs have largely shown no significant effect with single interventions, as the ICU-admitted population is entirely too heterogeneous for "a one-size-fits-all" approach. READMIN provides a risk signal; specific management is at the clinician's discretion.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40965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64008" cy="11704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" y="2148840"/>
            <a:ext cx="256032" cy="2560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3511296" y="2167128"/>
            <a:ext cx="859536" cy="20116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11296" y="216712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859536" y="2195181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 training patients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12064" y="2450592"/>
            <a:ext cx="3858768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Statistical power is too limited to learn reliable individual specific patterns. With 100 cases the model can identify which population subgroup a patient resembles, but it cannot say 'patient X requires intervention Y.' The full MIMIC-IV dataset, containing 315K patients, would allow condition-specific sub-models.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45152" y="2066544"/>
            <a:ext cx="40965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5152" y="2066544"/>
            <a:ext cx="64008" cy="1170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91456" y="2148840"/>
            <a:ext cx="256032" cy="2560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2148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790688" y="2167128"/>
            <a:ext cx="859536" cy="20116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90688" y="216712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depth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5138928" y="2195181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structured fields — no clinical notes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91456" y="2450592"/>
            <a:ext cx="3858768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Our features are structured EHR values: lab averages, vital trends, diagnosis flags, without physician and nursing notes, care-team assessments, functional status, or social history. Essentially, the context that would distinguish a CHF patient requiring diuresis from one suggesting a palliative consult.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3346704"/>
            <a:ext cx="40965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346704"/>
            <a:ext cx="64008" cy="11704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064" y="3429000"/>
            <a:ext cx="256032" cy="2560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3511296" y="3447288"/>
            <a:ext cx="859536" cy="20116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11296" y="344728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readiness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859536" y="3475341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prospective clinical validation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12064" y="3730752"/>
            <a:ext cx="3858768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Before recommending a specific intervention for a specific patient, the system must be validated prospectively: real patients, real outcomes, IRB-approval, and clinician oversight and feedback. Without this, specific recommendations carry patient safety and liability risk. Tiered triage protocols are not the same as clinical prescriptions.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45152" y="3346704"/>
            <a:ext cx="40965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45152" y="3346704"/>
            <a:ext cx="64008" cy="11704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91456" y="3429000"/>
            <a:ext cx="256032" cy="2560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91456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7790688" y="3447288"/>
            <a:ext cx="859536" cy="20116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90688" y="344728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science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5138928" y="3475341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heterogeneity — literature consensus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4791456" y="3730752"/>
            <a:ext cx="3858768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 patient readmitted for Acute Hypoxemic Respiratory Failure (AHRF) demands different specific interventions than one readmitted for sepsis, Acute Renal Failure, Hemodynamic instability or post-transplant surgical complications. </a:t>
            </a:r>
          </a:p>
        </p:txBody>
      </p:sp>
      <p:sp>
        <p:nvSpPr>
          <p:cNvPr id="41" name="Shape 39"/>
          <p:cNvSpPr/>
          <p:nvPr/>
        </p:nvSpPr>
        <p:spPr>
          <a:xfrm>
            <a:off x="365760" y="4558284"/>
            <a:ext cx="8412480" cy="306324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" y="4617720"/>
            <a:ext cx="8229600" cy="192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unlock case-specific interventions: </a:t>
            </a:r>
            <a:r>
              <a:rPr lang="en-US" sz="90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MIMIC-IV (315K patients)  ·  Clinical NLP on nursing notes  ·  IRB-approved prospective validation  ·  FHIR real-time EHR feed  ·  Condition-specific sub-models (CHF vs COPD vs sepsis)</a:t>
            </a:r>
            <a:endParaRPr lang="en-US" sz="9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5F82E8-DC46-9830-948F-FBE8C7DAF62F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A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5058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</a:rPr>
              <a:t>CLINICAL INTERVENTIONS</a:t>
            </a:r>
          </a:p>
        </p:txBody>
      </p:sp>
      <p:sp>
        <p:nvSpPr>
          <p:cNvPr id="4" name="SlideTitle"/>
          <p:cNvSpPr/>
          <p:nvPr/>
        </p:nvSpPr>
        <p:spPr>
          <a:xfrm>
            <a:off x="365760" y="530000"/>
            <a:ext cx="841248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Why ICU Readmissions Occur: The Two Failure Modes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1060000"/>
            <a:ext cx="841248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Readmission is not a single event but a system failure on two fronts simultaneously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Stat1Box"/>
          <p:cNvSpPr/>
          <p:nvPr/>
        </p:nvSpPr>
        <p:spPr>
          <a:xfrm>
            <a:off x="365760" y="1330000"/>
            <a:ext cx="2560000" cy="440000"/>
          </a:xfrm>
          <a:prstGeom prst="rect">
            <a:avLst/>
          </a:prstGeom>
          <a:solidFill>
            <a:srgbClr val="1A3A5C"/>
          </a:solidFill>
          <a:ln/>
          <a:effectLst>
            <a:outerShdw blurRad="60960" dist="2540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tat1Text"/>
          <p:cNvSpPr/>
          <p:nvPr/>
        </p:nvSpPr>
        <p:spPr>
          <a:xfrm>
            <a:off x="365760" y="1280064"/>
            <a:ext cx="2560000" cy="4899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</a:rPr>
              <a:t>~11%</a:t>
            </a:r>
          </a:p>
          <a:p>
            <a:pPr algn="ctr">
              <a:buNone/>
            </a:pPr>
            <a:r>
              <a:rPr lang="en-US" sz="800">
                <a:solidFill>
                  <a:srgbClr val="AECDE8"/>
                </a:solidFill>
                <a:latin typeface="Calibri"/>
                <a:ea typeface="Calibri"/>
                <a:cs typeface="Calibri"/>
              </a:rPr>
              <a:t>of ICU readmissions are preventable</a:t>
            </a:r>
          </a:p>
        </p:txBody>
      </p:sp>
      <p:sp>
        <p:nvSpPr>
          <p:cNvPr id="12" name="Stat2Box"/>
          <p:cNvSpPr/>
          <p:nvPr/>
        </p:nvSpPr>
        <p:spPr>
          <a:xfrm>
            <a:off x="3292000" y="1330000"/>
            <a:ext cx="2560000" cy="440000"/>
          </a:xfrm>
          <a:prstGeom prst="rect">
            <a:avLst/>
          </a:prstGeom>
          <a:solidFill>
            <a:srgbClr val="C0392B"/>
          </a:solidFill>
          <a:ln/>
          <a:effectLst>
            <a:outerShdw blurRad="60960" dist="2540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tat2Text"/>
          <p:cNvSpPr/>
          <p:nvPr/>
        </p:nvSpPr>
        <p:spPr>
          <a:xfrm>
            <a:off x="3292000" y="1296709"/>
            <a:ext cx="256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</a:rPr>
              <a:t>20% vs 9.3%</a:t>
            </a:r>
          </a:p>
          <a:p>
            <a:pPr algn="ctr">
              <a:buNone/>
            </a:pPr>
            <a:r>
              <a:rPr lang="en-US" sz="800">
                <a:solidFill>
                  <a:srgbClr val="FADADD"/>
                </a:solidFill>
                <a:latin typeface="Calibri" pitchFamily="34" charset="0"/>
              </a:rPr>
              <a:t>30-day readmit: non-adherent vs adherent (p=0.005)</a:t>
            </a:r>
          </a:p>
        </p:txBody>
      </p:sp>
      <p:sp>
        <p:nvSpPr>
          <p:cNvPr id="14" name="Stat3Box"/>
          <p:cNvSpPr/>
          <p:nvPr/>
        </p:nvSpPr>
        <p:spPr>
          <a:xfrm>
            <a:off x="6218240" y="1330000"/>
            <a:ext cx="2560000" cy="440000"/>
          </a:xfrm>
          <a:prstGeom prst="rect">
            <a:avLst/>
          </a:prstGeom>
          <a:solidFill>
            <a:srgbClr val="CA6F1E"/>
          </a:solidFill>
          <a:ln/>
          <a:effectLst>
            <a:outerShdw blurRad="60960" dist="25400" dir="5400000" algn="ctr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tat3Text"/>
          <p:cNvSpPr/>
          <p:nvPr/>
        </p:nvSpPr>
        <p:spPr>
          <a:xfrm>
            <a:off x="6223789" y="1296709"/>
            <a:ext cx="2560000" cy="4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Error</a:t>
            </a:r>
            <a:endParaRPr lang="en-US" sz="2600" b="1">
              <a:solidFill>
                <a:srgbClr val="FFFFFF"/>
              </a:solidFill>
              <a:latin typeface="Calibri" pitchFamily="34" charset="0"/>
            </a:endParaRPr>
          </a:p>
          <a:p>
            <a:pPr algn="ctr"/>
            <a:r>
              <a:rPr lang="en-US" sz="800">
                <a:solidFill>
                  <a:srgbClr val="FAD9BF"/>
                </a:solidFill>
                <a:latin typeface="Calibri"/>
                <a:ea typeface="Calibri"/>
                <a:cs typeface="Calibri"/>
              </a:rPr>
              <a:t>Comprises the majority of ward ICU admissions </a:t>
            </a:r>
          </a:p>
        </p:txBody>
      </p:sp>
      <p:sp>
        <p:nvSpPr>
          <p:cNvPr id="20" name="LeftColBar"/>
          <p:cNvSpPr/>
          <p:nvPr/>
        </p:nvSpPr>
        <p:spPr>
          <a:xfrm>
            <a:off x="365760" y="1870000"/>
            <a:ext cx="4115520" cy="28000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  SYSTEM FAILURES  (Ward Team)</a:t>
            </a:r>
          </a:p>
        </p:txBody>
      </p:sp>
      <p:sp>
        <p:nvSpPr>
          <p:cNvPr id="21" name="LeftColCard"/>
          <p:cNvSpPr/>
          <p:nvPr/>
        </p:nvSpPr>
        <p:spPr>
          <a:xfrm>
            <a:off x="365760" y="2150000"/>
            <a:ext cx="4115520" cy="2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LeftColText"/>
          <p:cNvSpPr/>
          <p:nvPr/>
        </p:nvSpPr>
        <p:spPr>
          <a:xfrm>
            <a:off x="457200" y="2180000"/>
            <a:ext cx="3932640" cy="23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200"/>
              </a:spcAft>
            </a:pPr>
            <a:endParaRPr lang="en-US" sz="1050" b="1">
              <a:solidFill>
                <a:srgbClr val="1A3A5C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⚠  Failure to recognize deterioration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0">
              <a:spcAft>
                <a:spcPts val="4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Delayed vital sign checks; ignored MEWS alerts; ward “fatalism” toward high-acuity patients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⚠  Handoff and communication failures</a:t>
            </a:r>
          </a:p>
          <a:p>
            <a:pPr marL="228600" indent="0">
              <a:spcAft>
                <a:spcPts val="4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ICU-to-ward transfer: incomplete handoffs, omitted labs, code status errors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⚠  Medication reconciliation errors</a:t>
            </a:r>
          </a:p>
          <a:p>
            <a:pPr marL="228600" indent="0">
              <a:spcAft>
                <a:spcPts val="4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ICU agents stopped; pre-admission meds restarted incorrectly; polypharmacy complexity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⚠  Premature step-down under bed pressure</a:t>
            </a:r>
          </a:p>
          <a:p>
            <a:pPr marL="228600">
              <a:spcAft>
                <a:spcPts val="200"/>
              </a:spcAft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Capacity-driven discharge, not readiness-driven; up to 42% of readmissions are linked to premature transfer</a:t>
            </a:r>
          </a:p>
        </p:txBody>
      </p:sp>
      <p:sp>
        <p:nvSpPr>
          <p:cNvPr id="30" name="RightColBar"/>
          <p:cNvSpPr/>
          <p:nvPr/>
        </p:nvSpPr>
        <p:spPr>
          <a:xfrm>
            <a:off x="4662720" y="1870000"/>
            <a:ext cx="4115520" cy="2800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  PATIENT FAILURES  (Non-Compliance)</a:t>
            </a:r>
          </a:p>
        </p:txBody>
      </p:sp>
      <p:sp>
        <p:nvSpPr>
          <p:cNvPr id="31" name="RightColCard"/>
          <p:cNvSpPr/>
          <p:nvPr/>
        </p:nvSpPr>
        <p:spPr>
          <a:xfrm>
            <a:off x="4662720" y="2150000"/>
            <a:ext cx="4115520" cy="24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RightColText"/>
          <p:cNvSpPr/>
          <p:nvPr/>
        </p:nvSpPr>
        <p:spPr>
          <a:xfrm>
            <a:off x="4754160" y="2180000"/>
            <a:ext cx="3932640" cy="239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200"/>
              </a:spcAft>
            </a:pPr>
            <a:endParaRPr lang="en-US" sz="1050" b="1">
              <a:solidFill>
                <a:srgbClr val="C0392B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✕  Medication non-adherence</a:t>
            </a:r>
            <a:endParaRPr lang="en-US">
              <a:latin typeface="Calibri"/>
              <a:ea typeface="Calibri"/>
              <a:cs typeface="Calibri"/>
            </a:endParaRPr>
          </a:p>
          <a:p>
            <a:pPr marL="228600" indent="0">
              <a:spcAft>
                <a:spcPts val="4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38% of </a:t>
            </a:r>
            <a:r>
              <a:rPr lang="en-US" sz="9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patients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non-adherent post-discharge; 30-day readmit 20% vs 9.3% </a:t>
            </a:r>
            <a:endParaRPr lang="en-US"/>
          </a:p>
          <a:p>
            <a:pPr>
              <a:spcAft>
                <a:spcPts val="200"/>
              </a:spcAft>
            </a:pPr>
            <a:endParaRPr lang="en-US" sz="1050" b="1">
              <a:solidFill>
                <a:srgbClr val="C0392B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✕  Low health literacy + cognitive impairment</a:t>
            </a:r>
            <a:endParaRPr lang="en-US"/>
          </a:p>
          <a:p>
            <a:pPr marL="228600" indent="0">
              <a:spcAft>
                <a:spcPts val="4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Post-ICU cognitive impairment (PICS) renders complex regimens unmanageable without support</a:t>
            </a:r>
          </a:p>
          <a:p>
            <a:pPr marL="228600">
              <a:spcAft>
                <a:spcPts val="400"/>
              </a:spcAft>
            </a:pPr>
            <a:endParaRPr lang="en-US" sz="95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050" b="1">
                <a:solidFill>
                  <a:srgbClr val="C0392B"/>
                </a:solidFill>
                <a:latin typeface="Calibri" pitchFamily="34" charset="0"/>
              </a:rPr>
              <a:t>✕  Social barriers (cost, access, family support)</a:t>
            </a:r>
          </a:p>
          <a:p>
            <a:pPr marL="228600" indent="0">
              <a:spcAft>
                <a:spcPts val="200"/>
              </a:spcAft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</a:rPr>
              <a:t>Substance use, lack of family support, spiritual beliefs, pharmacy access all independently predict readmission</a:t>
            </a:r>
          </a:p>
        </p:txBody>
      </p:sp>
      <p:sp>
        <p:nvSpPr>
          <p:cNvPr id="50" name="Footer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FooterText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</a:rPr>
              <a:t>READMIN  |  MS Health Informatics · Hofstra University  |  May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AA614-6176-59FB-8048-90BC3E14062D}"/>
              </a:ext>
            </a:extLst>
          </p:cNvPr>
          <p:cNvSpPr txBox="1"/>
          <p:nvPr/>
        </p:nvSpPr>
        <p:spPr>
          <a:xfrm>
            <a:off x="8689112" y="74824"/>
            <a:ext cx="457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2"/>
                </a:solidFill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2281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B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</a:rPr>
              <a:t>CLINICAL INTERVENTIONS</a:t>
            </a:r>
          </a:p>
        </p:txBody>
      </p:sp>
      <p:sp>
        <p:nvSpPr>
          <p:cNvPr id="4" name="SlideTitle"/>
          <p:cNvSpPr/>
          <p:nvPr/>
        </p:nvSpPr>
        <p:spPr>
          <a:xfrm>
            <a:off x="365760" y="530000"/>
            <a:ext cx="841248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</a:rPr>
              <a:t>How READMIN Closes Both Gaps</a:t>
            </a:r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365760" y="1060000"/>
            <a:ext cx="841248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Each identified failure mode maps directly to a READMIN feature. The system is designed around these gaps, not in spite of them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ColHead1"/>
          <p:cNvSpPr/>
          <p:nvPr/>
        </p:nvSpPr>
        <p:spPr>
          <a:xfrm>
            <a:off x="360212" y="1354452"/>
            <a:ext cx="3840000" cy="260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THE GAP  (Reason for readmission)</a:t>
            </a:r>
          </a:p>
        </p:txBody>
      </p:sp>
      <p:sp>
        <p:nvSpPr>
          <p:cNvPr id="11" name="ColHead2"/>
          <p:cNvSpPr/>
          <p:nvPr/>
        </p:nvSpPr>
        <p:spPr>
          <a:xfrm>
            <a:off x="4937760" y="1360000"/>
            <a:ext cx="3840000" cy="26000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</a:rPr>
              <a:t>  READMIN’S RESPONSE</a:t>
            </a:r>
          </a:p>
        </p:txBody>
      </p:sp>
      <p:sp>
        <p:nvSpPr>
          <p:cNvPr id="20" name="Row1Gap"/>
          <p:cNvSpPr/>
          <p:nvPr/>
        </p:nvSpPr>
        <p:spPr>
          <a:xfrm>
            <a:off x="365760" y="1660000"/>
            <a:ext cx="3840000" cy="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r>
              <a:rPr lang="en-US" sz="10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Care team misses clinical deterioration</a:t>
            </a:r>
          </a:p>
          <a:p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Delayed MEWS (Modified Early Warning Score) response; ignored vital </a:t>
            </a:r>
          </a:p>
          <a:p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trends; no escalation protocol</a:t>
            </a:r>
            <a:endParaRPr lang="en-US"/>
          </a:p>
        </p:txBody>
      </p:sp>
      <p:sp>
        <p:nvSpPr>
          <p:cNvPr id="21" name="Arrow1"/>
          <p:cNvSpPr/>
          <p:nvPr/>
        </p:nvSpPr>
        <p:spPr>
          <a:xfrm>
            <a:off x="4298760" y="1860000"/>
            <a:ext cx="548000" cy="300000"/>
          </a:xfrm>
          <a:prstGeom prst="rightArrow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ow1Response"/>
          <p:cNvSpPr/>
          <p:nvPr/>
        </p:nvSpPr>
        <p:spPr>
          <a:xfrm>
            <a:off x="4937760" y="1660000"/>
            <a:ext cx="3840000" cy="7000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Risk score flags high-acuity patients at discharge</a:t>
            </a:r>
          </a:p>
          <a:p>
            <a:pPr marL="0" indent="0">
              <a:buNone/>
            </a:pPr>
            <a:r>
              <a:rPr lang="en-US" sz="900">
                <a:solidFill>
                  <a:srgbClr val="1A5276"/>
                </a:solidFill>
                <a:latin typeface="Calibri" pitchFamily="34" charset="0"/>
              </a:rPr>
              <a:t>Dashboard surfaces top-risk patients; SHAP shows which vitals/labs drove the score</a:t>
            </a:r>
          </a:p>
        </p:txBody>
      </p:sp>
      <p:sp>
        <p:nvSpPr>
          <p:cNvPr id="30" name="Row2Gap"/>
          <p:cNvSpPr/>
          <p:nvPr/>
        </p:nvSpPr>
        <p:spPr>
          <a:xfrm>
            <a:off x="365760" y="2400000"/>
            <a:ext cx="3840000" cy="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0392B"/>
                </a:solidFill>
                <a:latin typeface="Calibri" pitchFamily="34" charset="0"/>
              </a:rPr>
              <a:t>Incomplete handoff + medication errors at transfer</a:t>
            </a:r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Omitted labs, missing code status, ICU medication discontinuation errors</a:t>
            </a:r>
          </a:p>
        </p:txBody>
      </p:sp>
      <p:sp>
        <p:nvSpPr>
          <p:cNvPr id="31" name="Arrow2"/>
          <p:cNvSpPr/>
          <p:nvPr/>
        </p:nvSpPr>
        <p:spPr>
          <a:xfrm>
            <a:off x="4298760" y="2600000"/>
            <a:ext cx="548000" cy="300000"/>
          </a:xfrm>
          <a:prstGeom prst="rightArrow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ow2Response"/>
          <p:cNvSpPr/>
          <p:nvPr/>
        </p:nvSpPr>
        <p:spPr>
          <a:xfrm>
            <a:off x="4937760" y="2400000"/>
            <a:ext cx="3840000" cy="7000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SHAP-driven care plan embedded in discharge output</a:t>
            </a:r>
          </a:p>
          <a:p>
            <a:pPr marL="0" indent="0">
              <a:buNone/>
            </a:pPr>
            <a:r>
              <a:rPr lang="en-US" sz="900">
                <a:solidFill>
                  <a:srgbClr val="1A5276"/>
                </a:solidFill>
                <a:latin typeface="Calibri" pitchFamily="34" charset="0"/>
              </a:rPr>
              <a:t>Top 3 clinical drivers per patient exported in plain English; structured tier + action plan for ward team</a:t>
            </a:r>
          </a:p>
        </p:txBody>
      </p:sp>
      <p:sp>
        <p:nvSpPr>
          <p:cNvPr id="40" name="Row3Gap"/>
          <p:cNvSpPr/>
          <p:nvPr/>
        </p:nvSpPr>
        <p:spPr>
          <a:xfrm>
            <a:off x="365760" y="3140000"/>
            <a:ext cx="3840000" cy="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0392B"/>
                </a:solidFill>
                <a:latin typeface="Calibri" pitchFamily="34" charset="0"/>
              </a:rPr>
              <a:t>Patient stops taking medications after discharge</a:t>
            </a:r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</a:rPr>
              <a:t>38% non-adherence; 2.15x higher 30-day readmit rate; cost, PICS, low literacy as drivers</a:t>
            </a:r>
          </a:p>
        </p:txBody>
      </p:sp>
      <p:sp>
        <p:nvSpPr>
          <p:cNvPr id="41" name="Arrow3"/>
          <p:cNvSpPr/>
          <p:nvPr/>
        </p:nvSpPr>
        <p:spPr>
          <a:xfrm>
            <a:off x="4298760" y="3340000"/>
            <a:ext cx="548000" cy="300000"/>
          </a:xfrm>
          <a:prstGeom prst="rightArrow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ow3Response"/>
          <p:cNvSpPr/>
          <p:nvPr/>
        </p:nvSpPr>
        <p:spPr>
          <a:xfrm>
            <a:off x="4937760" y="3140000"/>
            <a:ext cx="3840000" cy="7000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Vina bot: daily SMS medication + symptom check-in</a:t>
            </a:r>
          </a:p>
          <a:p>
            <a:r>
              <a:rPr lang="en-US" sz="900">
                <a:solidFill>
                  <a:srgbClr val="1A5276"/>
                </a:solidFill>
                <a:latin typeface="Calibri"/>
                <a:ea typeface="Calibri"/>
                <a:cs typeface="Calibri"/>
              </a:rPr>
              <a:t>“Are you taking your medications?” daily; non-adherence flags escalation; appointment confirmation tracked</a:t>
            </a:r>
          </a:p>
        </p:txBody>
      </p:sp>
      <p:sp>
        <p:nvSpPr>
          <p:cNvPr id="50" name="Row4Gap"/>
          <p:cNvSpPr/>
          <p:nvPr/>
        </p:nvSpPr>
        <p:spPr>
          <a:xfrm>
            <a:off x="365760" y="3880000"/>
            <a:ext cx="3840000" cy="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0392B"/>
                </a:solidFill>
                <a:latin typeface="Calibri" pitchFamily="34" charset="0"/>
              </a:rPr>
              <a:t>No post-discharge follow-up or escalation pathway</a:t>
            </a:r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</a:rPr>
              <a:t>Patients lost to follow-up; symptoms worsen silently until ER presentation; no escalation trigger</a:t>
            </a:r>
          </a:p>
        </p:txBody>
      </p:sp>
      <p:sp>
        <p:nvSpPr>
          <p:cNvPr id="51" name="Arrow4"/>
          <p:cNvSpPr/>
          <p:nvPr/>
        </p:nvSpPr>
        <p:spPr>
          <a:xfrm>
            <a:off x="4298760" y="4080000"/>
            <a:ext cx="548000" cy="300000"/>
          </a:xfrm>
          <a:prstGeom prst="rightArrow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ow4Response"/>
          <p:cNvSpPr/>
          <p:nvPr/>
        </p:nvSpPr>
        <p:spPr>
          <a:xfrm>
            <a:off x="4937760" y="3880000"/>
            <a:ext cx="3840000" cy="7000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3A5C"/>
                </a:solidFill>
                <a:latin typeface="Calibri" pitchFamily="34" charset="0"/>
              </a:rPr>
              <a:t>Tiered escalation: nurse call, PCP booking, Red Alert</a:t>
            </a:r>
          </a:p>
          <a:p>
            <a:pPr marL="0" indent="0">
              <a:buNone/>
            </a:pPr>
            <a:r>
              <a:rPr lang="en-US" sz="900">
                <a:solidFill>
                  <a:srgbClr val="1A5276"/>
                </a:solidFill>
                <a:latin typeface="Calibri" pitchFamily="34" charset="0"/>
              </a:rPr>
              <a:t>HIGH tier: nurse call in 24h + PCP in 7d. Red Alert stops bot and notifies care team immediately</a:t>
            </a:r>
          </a:p>
        </p:txBody>
      </p:sp>
      <p:sp>
        <p:nvSpPr>
          <p:cNvPr id="80" name="FooterBar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FooterText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</a:rPr>
              <a:t>READMIN  |  MS Health Informatics · Hofstra University  |  May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E370A-88DE-0814-433A-775049BDB4B4}"/>
              </a:ext>
            </a:extLst>
          </p:cNvPr>
          <p:cNvSpPr txBox="1"/>
          <p:nvPr/>
        </p:nvSpPr>
        <p:spPr>
          <a:xfrm>
            <a:off x="8661911" y="71289"/>
            <a:ext cx="4774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2"/>
                </a:solidFill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LAYER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From Discharge to Conversation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-based clinical interface: patient check-in + clinician dashboard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53619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536192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Event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flagged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ICU exit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1901952" y="228600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4832" y="1572768"/>
            <a:ext cx="153619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84832" y="1572768"/>
            <a:ext cx="1536192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84832" y="15727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2157984" y="1975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157984" y="226771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assigned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621024" y="228600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1572768"/>
            <a:ext cx="153619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03904" y="1572768"/>
            <a:ext cx="1536192" cy="3657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03904" y="15727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877056" y="1975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Check-in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3877056" y="226771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Button-based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conversation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5340096" y="228600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1572768"/>
            <a:ext cx="153619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22976" y="1572768"/>
            <a:ext cx="1536192" cy="36576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2976" y="15727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5596128" y="1975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596128" y="226771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Red/Yellow/Green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7059168" y="2286000"/>
            <a:ext cx="182880" cy="54864"/>
          </a:xfrm>
          <a:prstGeom prst="rect">
            <a:avLst/>
          </a:prstGeom>
          <a:solidFill>
            <a:srgbClr val="5BA4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42048" y="1572768"/>
            <a:ext cx="153619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42048" y="1572768"/>
            <a:ext cx="1536192" cy="36576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42048" y="157276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7315200" y="19751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7315200" y="2267712"/>
            <a:ext cx="13898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SHAP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Chat log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65760" y="3255264"/>
            <a:ext cx="416052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3255264"/>
            <a:ext cx="4160520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" y="3383280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Check-In Flow (Vina)</a:t>
            </a:r>
            <a:endParaRPr lang="en-US" sz="1150"/>
          </a:p>
        </p:txBody>
      </p:sp>
      <p:sp>
        <p:nvSpPr>
          <p:cNvPr id="39" name="Text 37"/>
          <p:cNvSpPr/>
          <p:nvPr/>
        </p:nvSpPr>
        <p:spPr>
          <a:xfrm>
            <a:off x="493776" y="3694176"/>
            <a:ext cx="39044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'Are you taking your medications?'  →  Yes / No / Partially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'Rate your breathing (1–5 scale)'  →  Button: 1 to 5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'Any symptoms since discharge?'  →  None / Mild / Urgent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'Is your follow-up appointment booked?'  →  Yes / No / Not Sure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709160" y="3255264"/>
            <a:ext cx="406908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255264"/>
            <a:ext cx="4069080" cy="54864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37176" y="3383280"/>
            <a:ext cx="3813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bot uses</a:t>
            </a:r>
            <a:endParaRPr lang="en-US" sz="1150"/>
          </a:p>
        </p:txBody>
      </p:sp>
      <p:sp>
        <p:nvSpPr>
          <p:cNvPr id="43" name="Text 41"/>
          <p:cNvSpPr/>
          <p:nvPr/>
        </p:nvSpPr>
        <p:spPr>
          <a:xfrm>
            <a:off x="4837176" y="3694176"/>
            <a:ext cx="38130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models/risk_model.pkl — trained Logistic Regression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models/feature_cols.pkl — 39 ordered features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csv/patient_risk_scores.csv — scored discharge outputs</a:t>
            </a:r>
            <a:endParaRPr lang="en-US" sz="10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logs/patient_chat_log.csv — interaction log for clinician review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8A4600-2D1A-0F93-B799-D542D9A954F1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LAYER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 &amp; Clinical Value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 states — each triggers a different care pathway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51760" cy="2231136"/>
          </a:xfrm>
          <a:prstGeom prst="rect">
            <a:avLst/>
          </a:prstGeom>
          <a:solidFill>
            <a:srgbClr val="FFF0F0"/>
          </a:solidFill>
          <a:ln w="635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38404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Red Alert — Escalate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93776" y="19933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symptoms reported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score ≤ 2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stops immediately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team notified — no further questions asked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18688" y="1572768"/>
            <a:ext cx="2651760" cy="2231136"/>
          </a:xfrm>
          <a:prstGeom prst="rect">
            <a:avLst/>
          </a:prstGeom>
          <a:solidFill>
            <a:srgbClr val="FFFBF0"/>
          </a:solidFill>
          <a:ln w="635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651760" cy="38404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Yellow Warning — Follow-Up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346704" y="19933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concern detected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below safe range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symptoms + no appointment booked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urged to contact care team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071616" y="1572768"/>
            <a:ext cx="2651760" cy="2231136"/>
          </a:xfrm>
          <a:prstGeom prst="rect">
            <a:avLst/>
          </a:prstGeom>
          <a:solidFill>
            <a:srgbClr val="F0FFF4"/>
          </a:solidFill>
          <a:ln w="6350">
            <a:solidFill>
              <a:srgbClr val="63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71616" y="1572768"/>
            <a:ext cx="2651760" cy="384048"/>
          </a:xfrm>
          <a:prstGeom prst="rect">
            <a:avLst/>
          </a:prstGeom>
          <a:solidFill>
            <a:srgbClr val="63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71616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Green — Check-In Complete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199632" y="1993392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within normal range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appointment confirmed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logged for audit trail</a:t>
            </a:r>
            <a:endParaRPr lang="en-US" sz="10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triggered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value delivered: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65760" y="4242816"/>
            <a:ext cx="19568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54864" cy="53035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" y="42793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93776" y="44805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high-risk ICU discharges before readmission occurs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2505456" y="4242816"/>
            <a:ext cx="19568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05456" y="4242816"/>
            <a:ext cx="54864" cy="5303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33472" y="42793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2633472" y="44805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SHAP-driven risk drivers shown to clinicians in plain English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4645152" y="4242816"/>
            <a:ext cx="19568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45152" y="4242816"/>
            <a:ext cx="54864" cy="53035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42793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773168" y="44805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log stored per session — timestamp, role, escalation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6784848" y="4242816"/>
            <a:ext cx="19568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84848" y="4242816"/>
            <a:ext cx="54864" cy="530352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12864" y="42793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Clinician-First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912864" y="4480560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prioritises highest-risk cases at a glance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1C6C9D-0903-972D-6533-704A37E84738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MARKET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Where READMIN Stands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existing ICU decision-support and readmission prediction tools</a:t>
            </a:r>
            <a:endParaRPr lang="en-US" sz="125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8412480" cy="28163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READMIN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(eRI)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ICU ML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Widely deployed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discharge score · black-box · Epic-only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IV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severity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 benchmark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· no ML · no bot layer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iREAD (2025)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ensemble, 48-hr window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0.77–0.83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intervention layer · no patient bot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LACE Score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clinical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no ML needed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real-time update · no automation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Caradigm / Health Catalyst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analytics platform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adoption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 · no SMS/voice bot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READMIN  ★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ML+Bot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Score+Plan+DualBot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combination — no competitor matches all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480560"/>
            <a:ext cx="8412480" cy="329184"/>
          </a:xfrm>
          <a:prstGeom prst="rect">
            <a:avLst/>
          </a:prstGeom>
          <a:solidFill>
            <a:srgbClr val="D6E4F0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" y="44897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CDSS market: $3.95B → $8.1B by 2034 (18%+ CAGR in AI-ICU segment) · 2,500+ hospitals penalised by CMS HRRP in FY2024 — up to 3% Medicare payment cut.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972D1-6B7E-0487-62ED-32FF9589D715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MARKET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Differentiators — Why READMIN Is Different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84048" cy="5486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59536" y="16093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Discharge-Point Prediction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346704" y="164592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at ICU exit — when intervention matters most. Most tools score at admission, not discharge.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384048" cy="548640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859536" y="2249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Intervention Triggers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346704" y="228600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nurse call + PCP + daily SMS, triggered instantly. No manual protocol lookup required.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384048" cy="5486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59536" y="2889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3346704" y="292608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clinical reasons per patient score, translated to plain English. Not a black box.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384048" cy="5486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49300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59536" y="35295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Bot Layer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3346704" y="356616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 (patient SMS check-in) + Vedi (clinician natural language query). No competitor has both.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384048" cy="548640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13308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859536" y="4169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Open Data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3346704" y="420624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peer-reviewable, vendor-free. Academic and clinical communities can audit everything.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65760" y="4791456"/>
            <a:ext cx="4023360" cy="146304"/>
          </a:xfrm>
          <a:prstGeom prst="rect">
            <a:avLst/>
          </a:prstGeom>
          <a:solidFill>
            <a:srgbClr val="D6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791456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$3.95B → $8.1B by 2034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4754880" y="4791456"/>
            <a:ext cx="4023360" cy="14630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4791456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small training set needs full MIMIC-IV validation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B871FF-B7BD-ACD4-3FEC-18C8AE5C54E3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OPPORTUNITIES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897695" y="4297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Improvement Timeline — 10 Enhancements Across 3 Phases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2430966" y="1042416"/>
            <a:ext cx="546142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rationale and capability for each proposed improvement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2560320" cy="2926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 ·  0–6 months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347472" cy="7132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83664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86384" y="1938528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individualization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786384" y="2194560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broad tiers with driver-based plans and plain-language explanations.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347472" cy="7132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86384" y="272491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profiles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786384" y="298094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refills, appointments, and follow-up responsiveness to gauge engagement.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65760" y="3456432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347472" cy="71323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86384" y="3511296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NLP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786384" y="3767328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findings (edema, cardiomegaly) from radiology reports via NLP — no image pipelines needed.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291840" y="1517904"/>
            <a:ext cx="2560320" cy="29260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15179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 ·  6–18 months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291840" y="1883664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1883664"/>
            <a:ext cx="347472" cy="7132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1883664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712464" y="1938528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NLP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712464" y="2194560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unstructured notes for hereditary concordance and elevate genetic risk weighting.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3291840" y="26700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91840" y="2670048"/>
            <a:ext cx="347472" cy="7132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91840" y="2670048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3712464" y="272491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follow-up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3712464" y="298094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calls at 24h / 72h / 7d; analyzes speech clarity and tone; updates risk in real time.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291840" y="3456432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91840" y="3456432"/>
            <a:ext cx="347472" cy="7132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0" y="3456432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3712464" y="3511296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device data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3712464" y="3767328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step counts, sleep disruption, and phone usage as low-burden deterioration signals.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3291840" y="4242816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91840" y="4242816"/>
            <a:ext cx="347472" cy="713232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91840" y="4242816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3712464" y="429768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clinician feedback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3712464" y="4553712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accept / modify / reject decisions to continuously refine recommendations.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217920" y="1517904"/>
            <a:ext cx="2560320" cy="29260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0" y="15179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 ·  18–36 months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6217920" y="1883664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17920" y="1883664"/>
            <a:ext cx="347472" cy="7132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17920" y="1883664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6638544" y="1938528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6638544" y="2194560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counterfactual outcomes — adherence vs. missed appointments — to identify optimal interventions.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6217920" y="26700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17920" y="2670048"/>
            <a:ext cx="347472" cy="7132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2670048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6638544" y="272491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scoring</a:t>
            </a:r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6638544" y="298094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confidence intervals with each prediction; flag low-certainty cases for clinician review.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6217920" y="3456432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217920" y="3456432"/>
            <a:ext cx="347472" cy="713232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17920" y="3456432"/>
            <a:ext cx="347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6638544" y="3511296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</a:t>
            </a:r>
            <a:endParaRPr lang="en-US" sz="1050"/>
          </a:p>
        </p:txBody>
      </p:sp>
      <p:sp>
        <p:nvSpPr>
          <p:cNvPr id="62" name="Text 60"/>
          <p:cNvSpPr/>
          <p:nvPr/>
        </p:nvSpPr>
        <p:spPr>
          <a:xfrm>
            <a:off x="6638544" y="3767328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weather, flu season, and local events into risk adjustment and care planning.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2900" y="49789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5DFB30-BA94-66FA-EEFD-9FC9482692E2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365760" y="58521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READMIN demonstrates as an academic proof-of-concept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64008" cy="5212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6093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ML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2066544" y="1627632"/>
            <a:ext cx="6620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0.607 after correcting data leakage — comparable to published clinical tools. 2.5× PR-AUC above random baseline confirms the model adds real signal.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185416"/>
            <a:ext cx="64008" cy="5212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" y="22219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066544" y="2240280"/>
            <a:ext cx="6620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per patient, plain-English dashboard, ⓘ info buttons throughout. No data science background required to use the system.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64008" cy="521208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" y="28346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2066544" y="2852928"/>
            <a:ext cx="6620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→ care tier → nurse call → SMS bot → clinician review. Not prediction-only — a full operational workflow.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64008" cy="521208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" y="34472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aware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2066544" y="3465576"/>
            <a:ext cx="6620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not prescriptions: the ICU population is too heterogeneous for universal interventions. The model augments — it does not replace — clinician judgment.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64008" cy="5212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" y="40599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path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2066544" y="4078224"/>
            <a:ext cx="6620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MIMIC-IV (315K patients), FHIR integration, federated learning, and prospective validation are defined and achievable next steps.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94690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BA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 |  MS Health Informatics · Hofstra University  |  May 2026</a:t>
            </a:r>
            <a:endParaRPr lang="en-US" sz="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3BA66F-4AF6-55BC-3B8D-990E89BD759C}"/>
              </a:ext>
            </a:extLst>
          </p:cNvPr>
          <p:cNvSpPr txBox="1"/>
          <p:nvPr/>
        </p:nvSpPr>
        <p:spPr>
          <a:xfrm>
            <a:off x="8641269" y="66678"/>
            <a:ext cx="480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88270" y="1856630"/>
            <a:ext cx="82296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Interactive Bot</a:t>
            </a:r>
            <a:endParaRPr lang="en-US" sz="5200"/>
          </a:p>
        </p:txBody>
      </p:sp>
      <p:sp>
        <p:nvSpPr>
          <p:cNvPr id="13" name="Text 11"/>
          <p:cNvSpPr/>
          <p:nvPr/>
        </p:nvSpPr>
        <p:spPr>
          <a:xfrm>
            <a:off x="274320" y="49405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Health Informatics  ·  Hofstra University  ·  May 2026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51FF1-0C45-3A97-1417-2AB5753F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887BDF-3E08-3E59-C906-AFB609AF718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8FA9A6-76F1-07D3-36D8-3B3B3449D65B}"/>
              </a:ext>
            </a:extLst>
          </p:cNvPr>
          <p:cNvSpPr/>
          <p:nvPr/>
        </p:nvSpPr>
        <p:spPr>
          <a:xfrm>
            <a:off x="2755509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CBFE77-0213-F369-4F78-DCFF329BDE2D}"/>
              </a:ext>
            </a:extLst>
          </p:cNvPr>
          <p:cNvSpPr/>
          <p:nvPr/>
        </p:nvSpPr>
        <p:spPr>
          <a:xfrm>
            <a:off x="1567389" y="237058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READMIN — ICU Readmission Risk &amp; Intervention System</a:t>
            </a:r>
            <a:endParaRPr lang="en-US" sz="1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98495B0-35A2-C078-F49B-DDB777C6D9AE}"/>
              </a:ext>
            </a:extLst>
          </p:cNvPr>
          <p:cNvSpPr/>
          <p:nvPr/>
        </p:nvSpPr>
        <p:spPr>
          <a:xfrm>
            <a:off x="274320" y="49405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Health Informatics  ·  Hofstra University  ·  May 2026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1066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READMIN — ICU Readmission Risk &amp; Intervention System</dc:title>
  <dc:subject>PptxGenJS Presentation</dc:subject>
  <dc:creator>PptxGenJS</dc:creator>
  <cp:revision>3</cp:revision>
  <dcterms:created xsi:type="dcterms:W3CDTF">2026-05-12T05:55:03Z</dcterms:created>
  <dcterms:modified xsi:type="dcterms:W3CDTF">2026-05-13T22:29:31Z</dcterms:modified>
</cp:coreProperties>
</file>