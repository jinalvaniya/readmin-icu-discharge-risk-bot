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hhGFhOA4SPDg5ODYW0owMq/+lCv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0FA1C94-2887-4E68-9270-AC35DEFA0F98}">
  <a:tblStyle styleId="{D0FA1C94-2887-4E68-9270-AC35DEFA0F9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customschemas.google.com/relationships/presentationmetadata" Target="meta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7992eb8b7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97992eb8b7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97992eb8b7_0_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97992eb8b7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97992eb8b7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97992eb8b7_0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nature.com/articles/s41597-022-01899-x" TargetMode="External"/><Relationship Id="rId4" Type="http://schemas.openxmlformats.org/officeDocument/2006/relationships/hyperlink" Target="https://www.thelancet.com/journals/eclinm/article/PIIS2589-5370(25)00044-6/fulltext" TargetMode="External"/><Relationship Id="rId5" Type="http://schemas.openxmlformats.org/officeDocument/2006/relationships/hyperlink" Target="https://arxiv.org/html/2309.13781v4" TargetMode="External"/><Relationship Id="rId6" Type="http://schemas.openxmlformats.org/officeDocument/2006/relationships/hyperlink" Target="https://pmc.ncbi.nlm.nih.gov/articles/PMC8437217/" TargetMode="External"/><Relationship Id="rId7" Type="http://schemas.openxmlformats.org/officeDocument/2006/relationships/hyperlink" Target="https://pmc.ncbi.nlm.nih.gov/articles/PMC9069814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028090">
              <a:alpha val="14901"/>
            </a:srgbClr>
          </a:solidFill>
          <a:ln cap="flat" cmpd="sng" w="12700">
            <a:solidFill>
              <a:srgbClr val="02809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7132320" y="-274320"/>
            <a:ext cx="2377440" cy="2377440"/>
          </a:xfrm>
          <a:prstGeom prst="ellipse">
            <a:avLst/>
          </a:prstGeom>
          <a:solidFill>
            <a:srgbClr val="02C39A">
              <a:alpha val="25098"/>
            </a:srgbClr>
          </a:solidFill>
          <a:ln cap="flat" cmpd="sng" w="12700">
            <a:solidFill>
              <a:srgbClr val="02C39A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" name="Google Shape;1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411480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"/>
          <p:cNvSpPr/>
          <p:nvPr/>
        </p:nvSpPr>
        <p:spPr>
          <a:xfrm>
            <a:off x="1234440" y="384048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IDRIB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11480" y="1143000"/>
            <a:ext cx="6858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8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ICU Risk-Scoring Bot: Competitive Market Analysis &amp; Technical Architecture</a:t>
            </a:r>
            <a:endParaRPr b="0" i="0" sz="4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 rot="-451">
            <a:off x="411418" y="2436329"/>
            <a:ext cx="6858000" cy="108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Predicting 30-day ICU Readmission at the Moment of Discharge</a:t>
            </a:r>
            <a:endParaRPr b="0" i="0" sz="1600" u="none" cap="none" strike="noStrike">
              <a:solidFill>
                <a:srgbClr val="02C39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</a:t>
            </a:r>
            <a:endParaRPr sz="1600">
              <a:solidFill>
                <a:srgbClr val="02C39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411480" y="3566160"/>
            <a:ext cx="5029200" cy="36576"/>
          </a:xfrm>
          <a:prstGeom prst="rect">
            <a:avLst/>
          </a:prstGeom>
          <a:solidFill>
            <a:srgbClr val="028090">
              <a:alpha val="60000"/>
            </a:srgbClr>
          </a:solidFill>
          <a:ln cap="flat" cmpd="sng" w="12700">
            <a:solidFill>
              <a:srgbClr val="028090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411480" y="384048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AA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EAAB8"/>
                </a:solidFill>
                <a:latin typeface="Calibri"/>
                <a:ea typeface="Calibri"/>
                <a:cs typeface="Calibri"/>
                <a:sym typeface="Calibri"/>
              </a:rPr>
              <a:t>MS Health Informatics  ·  Hofstra University  ·  April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411480" y="420624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AAB8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9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411480" y="16459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What IDRIB Does — Unique Positioning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320040" y="1143000"/>
            <a:ext cx="4069080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320040" y="1143000"/>
            <a:ext cx="64008" cy="169164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" name="Google Shape;3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632" y="129844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2"/>
          <p:cNvSpPr/>
          <p:nvPr/>
        </p:nvSpPr>
        <p:spPr>
          <a:xfrm>
            <a:off x="914400" y="1252728"/>
            <a:ext cx="3337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Discharge-Point Prediction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484632" y="1691640"/>
            <a:ext cx="37490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F5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D4F5C"/>
                </a:solidFill>
                <a:latin typeface="Calibri"/>
                <a:ea typeface="Calibri"/>
                <a:cs typeface="Calibri"/>
                <a:sym typeface="Calibri"/>
              </a:rPr>
              <a:t>Scores risk at the moment of ICU discharge — exactly when patient disposition decisions are made. Competitors only monitor in-ICU.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754880" y="1143000"/>
            <a:ext cx="4069080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4754880" y="1143000"/>
            <a:ext cx="64008" cy="169164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19472" y="129844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2"/>
          <p:cNvSpPr/>
          <p:nvPr/>
        </p:nvSpPr>
        <p:spPr>
          <a:xfrm>
            <a:off x="5349240" y="1252728"/>
            <a:ext cx="3337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Automated Interventions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4919472" y="1691640"/>
            <a:ext cx="37490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F5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D4F5C"/>
                </a:solidFill>
                <a:latin typeface="Calibri"/>
                <a:ea typeface="Calibri"/>
                <a:cs typeface="Calibri"/>
                <a:sym typeface="Calibri"/>
              </a:rPr>
              <a:t>HIGH risk instantly triggers nurse call within 24hrs, PCP appointment, pharmacist review, and patient SMS monitoring — no manual triage.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320040" y="2880360"/>
            <a:ext cx="4069080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320040" y="2880360"/>
            <a:ext cx="64008" cy="169164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" name="Google Shape;46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4632" y="303580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2"/>
          <p:cNvSpPr/>
          <p:nvPr/>
        </p:nvSpPr>
        <p:spPr>
          <a:xfrm>
            <a:off x="914400" y="2990088"/>
            <a:ext cx="3337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SHAP Explainability Per Patient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484632" y="3429000"/>
            <a:ext cx="37490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F5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D4F5C"/>
                </a:solidFill>
                <a:latin typeface="Calibri"/>
                <a:ea typeface="Calibri"/>
                <a:cs typeface="Calibri"/>
                <a:sym typeface="Calibri"/>
              </a:rPr>
              <a:t>Every score shows top 3 clinical drivers: e.g. 'Risk driven by rising creatinine, CHF, prior ICU admission.' Builds clinician trust.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4754880" y="2880360"/>
            <a:ext cx="4069080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4754880" y="2880360"/>
            <a:ext cx="64008" cy="169164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1" name="Google Shape;51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19472" y="303580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2"/>
          <p:cNvSpPr/>
          <p:nvPr/>
        </p:nvSpPr>
        <p:spPr>
          <a:xfrm>
            <a:off x="5349240" y="2990088"/>
            <a:ext cx="3337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Dual Bot Layer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4919472" y="3429000"/>
            <a:ext cx="37490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F5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D4F5C"/>
                </a:solidFill>
                <a:latin typeface="Calibri"/>
                <a:ea typeface="Calibri"/>
                <a:cs typeface="Calibri"/>
                <a:sym typeface="Calibri"/>
              </a:rPr>
              <a:t>Vina AI (patient-facing SMS/voice) + Vedi (clinician dashboard showing top-10 high-risk discharges today). Covers both sides of care.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9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411480" y="16459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Competitive Landscape &amp; Market Opportunity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320040" y="1097280"/>
            <a:ext cx="4754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IDRIB vs. Competitors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3" name="Google Shape;63;p3"/>
          <p:cNvGraphicFramePr/>
          <p:nvPr/>
        </p:nvGraphicFramePr>
        <p:xfrm>
          <a:off x="320040" y="15087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{D0FA1C94-2887-4E68-9270-AC35DEFA0F98}</a:tableStyleId>
              </a:tblPr>
              <a:tblGrid>
                <a:gridCol w="1463050"/>
                <a:gridCol w="3291850"/>
              </a:tblGrid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Competitor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Gap vs IDRIB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Epic eRI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00000"/>
                          </a:solidFill>
                        </a:rPr>
                        <a:t>In-ICU only; no discharge score; Epic-locked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APACHE IV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00000"/>
                          </a:solidFill>
                        </a:rPr>
                        <a:t>Static admission score; no ML; no bot layer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iREAD (Lancet)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00000"/>
                          </a:solidFill>
                        </a:rPr>
                        <a:t>Academic model only; no intervention or patient bot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LACE Score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00000"/>
                          </a:solidFill>
                        </a:rPr>
                        <a:t>Rule-based; no ML; no real-time update; no bot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Health Catalyst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00000"/>
                          </a:solidFill>
                        </a:rPr>
                        <a:t>Vendor lock-in; no ICU depth; no patient SMS/voice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E4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4" name="Google Shape;64;p3"/>
          <p:cNvSpPr/>
          <p:nvPr/>
        </p:nvSpPr>
        <p:spPr>
          <a:xfrm>
            <a:off x="5394960" y="1097280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Market Opportunity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5394960" y="1508760"/>
            <a:ext cx="342900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5394960" y="1508760"/>
            <a:ext cx="64008" cy="713232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5559552" y="1563624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$3.95B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6766560" y="1572768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Global CDSS Market (2025)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6766560" y="1892808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 $8.10B by 2034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5394960" y="2313432"/>
            <a:ext cx="342900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5394960" y="2313432"/>
            <a:ext cx="64008" cy="713232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5559552" y="2368296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18%+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6766560" y="2377440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AI ICU Sub-Segment CAGR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6766560" y="2697480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Fastest-growing segment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5394960" y="3118104"/>
            <a:ext cx="342900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5394960" y="3118104"/>
            <a:ext cx="64008" cy="713232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5559552" y="3172968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2,500+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6766560" y="3182112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Hospitals Penalized (FY2024)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6651785" y="3502202"/>
            <a:ext cx="1920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CMS HRRP up to 3% Medicare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5394960" y="3922776"/>
            <a:ext cx="342900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5394960" y="3922776"/>
            <a:ext cx="64008" cy="713232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5559552" y="3977640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$65K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6766560" y="3986784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Avg. ICU Readmission Cost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6766560" y="4306824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Direct ROI for CFOs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411480" y="18288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IDRIB Output &amp; Path to Market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411480" y="868680"/>
            <a:ext cx="3657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Risk Tier Output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411480" y="1261872"/>
            <a:ext cx="3931920" cy="594360"/>
          </a:xfrm>
          <a:prstGeom prst="rect">
            <a:avLst/>
          </a:prstGeom>
          <a:solidFill>
            <a:srgbClr val="C0392B">
              <a:alpha val="80000"/>
            </a:srgbClr>
          </a:solidFill>
          <a:ln cap="flat" cmpd="sng" w="12700">
            <a:solidFill>
              <a:srgbClr val="C0392B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502920" y="1335024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HIGH RISK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502920" y="1591056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Score: 70–100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1645920" y="1353312"/>
            <a:ext cx="25603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Nurse call 24hr + PCP + pharmacist + SMS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411480" y="1956816"/>
            <a:ext cx="3931920" cy="594360"/>
          </a:xfrm>
          <a:prstGeom prst="rect">
            <a:avLst/>
          </a:prstGeom>
          <a:solidFill>
            <a:srgbClr val="E67E22">
              <a:alpha val="80000"/>
            </a:srgbClr>
          </a:solidFill>
          <a:ln cap="flat" cmpd="sng" w="12700">
            <a:solidFill>
              <a:srgbClr val="E67E22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502920" y="2029968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MEDIUM RISK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502920" y="2286000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Score: 40–69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1645920" y="2048256"/>
            <a:ext cx="25603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PCP follow-up + discharge education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411480" y="2651760"/>
            <a:ext cx="3931920" cy="594360"/>
          </a:xfrm>
          <a:prstGeom prst="rect">
            <a:avLst/>
          </a:prstGeom>
          <a:solidFill>
            <a:srgbClr val="27AE60">
              <a:alpha val="80000"/>
            </a:srgbClr>
          </a:solidFill>
          <a:ln cap="flat" cmpd="sng" w="12700">
            <a:solidFill>
              <a:srgbClr val="27AE60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502920" y="2724912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LOW RISK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502920" y="2980944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Score: 0–39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1645920" y="2743200"/>
            <a:ext cx="25603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Standard discharge protocol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4663440" y="868680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Immediate Next Steps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4663440" y="1261872"/>
            <a:ext cx="475488" cy="475488"/>
          </a:xfrm>
          <a:prstGeom prst="ellipse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4663440" y="1316736"/>
            <a:ext cx="4754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5230368" y="1261872"/>
            <a:ext cx="3566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FDA Regulatory Engagement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5230368" y="1609344"/>
            <a:ext cx="35661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5D0"/>
              </a:buClr>
              <a:buSzPts val="950"/>
              <a:buFont typeface="Calibri"/>
              <a:buNone/>
            </a:pPr>
            <a:r>
              <a:rPr b="0" i="0" lang="en-US" sz="1250" u="none" cap="none" strike="noStrike">
                <a:solidFill>
                  <a:srgbClr val="A8C5D0"/>
                </a:solidFill>
                <a:latin typeface="Calibri"/>
                <a:ea typeface="Calibri"/>
                <a:cs typeface="Calibri"/>
                <a:sym typeface="Calibri"/>
              </a:rPr>
              <a:t>Pre-submission meeting for SaMD classification (510k or De Novo). Pursue Breakthrough Device designation.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4663440" y="2432304"/>
            <a:ext cx="475488" cy="475488"/>
          </a:xfrm>
          <a:prstGeom prst="ellipse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4663440" y="2487168"/>
            <a:ext cx="4754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5230368" y="2432304"/>
            <a:ext cx="3566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Full MIMIC-IV Retraining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5230368" y="2779776"/>
            <a:ext cx="35661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5D0"/>
              </a:buClr>
              <a:buSzPts val="950"/>
              <a:buFont typeface="Calibri"/>
              <a:buNone/>
            </a:pPr>
            <a:r>
              <a:rPr b="0" i="0" lang="en-US" sz="1250" u="none" cap="none" strike="noStrike">
                <a:solidFill>
                  <a:srgbClr val="A8C5D0"/>
                </a:solidFill>
                <a:latin typeface="Calibri"/>
                <a:ea typeface="Calibri"/>
                <a:cs typeface="Calibri"/>
                <a:sym typeface="Calibri"/>
              </a:rPr>
              <a:t>Apply for access at physionet.org. Full 65K patient dataset projects AUROC 0.75–0.82 vs current 0.607.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4663440" y="3602736"/>
            <a:ext cx="475488" cy="475488"/>
          </a:xfrm>
          <a:prstGeom prst="ellipse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4663440" y="3657600"/>
            <a:ext cx="4754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5230368" y="3602736"/>
            <a:ext cx="3566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Academic Medical Center Pilots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5138918" y="3950233"/>
            <a:ext cx="35661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5D0"/>
              </a:buClr>
              <a:buSzPts val="950"/>
              <a:buFont typeface="Calibri"/>
              <a:buNone/>
            </a:pPr>
            <a:r>
              <a:rPr b="0" i="0" lang="en-US" sz="1150" u="none" cap="none" strike="noStrike">
                <a:solidFill>
                  <a:srgbClr val="A8C5D0"/>
                </a:solidFill>
                <a:latin typeface="Calibri"/>
                <a:ea typeface="Calibri"/>
                <a:cs typeface="Calibri"/>
                <a:sym typeface="Calibri"/>
              </a:rPr>
              <a:t>2–3 AMC partnerships for prospective clinical validation. FHIR-compatible API works across Epic, Cerner, MEDITECH.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411480" y="4754880"/>
            <a:ext cx="8503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B7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6B78"/>
                </a:solidFill>
                <a:latin typeface="Calibri"/>
                <a:ea typeface="Calibri"/>
                <a:cs typeface="Calibri"/>
                <a:sym typeface="Calibri"/>
              </a:rPr>
              <a:t>IDRIB Project  ·  MS Health Informatics  ·  Hofstra University  ·  MIMIC-IV Demo v2.2  ·  April 2026  ·  Confidential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97992eb8b7_0_14"/>
          <p:cNvSpPr txBox="1"/>
          <p:nvPr/>
        </p:nvSpPr>
        <p:spPr>
          <a:xfrm>
            <a:off x="1212675" y="343700"/>
            <a:ext cx="57219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lt1"/>
                </a:solidFill>
              </a:rPr>
              <a:t>                  </a:t>
            </a:r>
            <a:r>
              <a:rPr b="1" lang="en-US" sz="2500">
                <a:solidFill>
                  <a:srgbClr val="DDDDDD"/>
                </a:solidFill>
              </a:rPr>
              <a:t>Research Paper :</a:t>
            </a:r>
            <a:endParaRPr b="1" sz="2500">
              <a:solidFill>
                <a:srgbClr val="DDDDDD"/>
              </a:solidFill>
            </a:endParaRPr>
          </a:p>
        </p:txBody>
      </p:sp>
      <p:sp>
        <p:nvSpPr>
          <p:cNvPr id="130" name="Google Shape;130;g397992eb8b7_0_14"/>
          <p:cNvSpPr txBox="1"/>
          <p:nvPr/>
        </p:nvSpPr>
        <p:spPr>
          <a:xfrm>
            <a:off x="171850" y="1106150"/>
            <a:ext cx="88104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</a:pPr>
            <a:r>
              <a:rPr lang="en-US" sz="1800" u="sng">
                <a:solidFill>
                  <a:schemeClr val="hlink"/>
                </a:solidFill>
                <a:hlinkClick r:id="rId3"/>
              </a:rPr>
              <a:t>https://www.nature.com/articles/s41597-022-01899-x</a:t>
            </a:r>
            <a:r>
              <a:rPr lang="en-US" sz="1800">
                <a:solidFill>
                  <a:schemeClr val="lt1"/>
                </a:solidFill>
              </a:rPr>
              <a:t> (Nature Scientific Data) 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</a:pPr>
            <a:r>
              <a:rPr lang="en-US" sz="1800" u="sng">
                <a:solidFill>
                  <a:schemeClr val="hlink"/>
                </a:solidFill>
                <a:hlinkClick r:id="rId4"/>
              </a:rPr>
              <a:t>https://www.thelancet.com/journals/eclinm/article/PIIS2589-5370(25)00044-6/fulltext</a:t>
            </a:r>
            <a:r>
              <a:rPr lang="en-US" sz="1800">
                <a:solidFill>
                  <a:schemeClr val="lt1"/>
                </a:solidFill>
              </a:rPr>
              <a:t> (Lancet eClinicalMedicine)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</a:pPr>
            <a:r>
              <a:rPr lang="en-US" sz="1800">
                <a:solidFill>
                  <a:schemeClr val="lt1"/>
                </a:solidFill>
              </a:rPr>
              <a:t> </a:t>
            </a:r>
            <a:r>
              <a:rPr lang="en-US" sz="1800" u="sng">
                <a:solidFill>
                  <a:schemeClr val="hlink"/>
                </a:solidFill>
                <a:hlinkClick r:id="rId5"/>
              </a:rPr>
              <a:t>https://arxiv.org/html/2309.13781v4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</a:pPr>
            <a:r>
              <a:rPr lang="en-US" sz="1800">
                <a:solidFill>
                  <a:schemeClr val="lt1"/>
                </a:solidFill>
              </a:rPr>
              <a:t> </a:t>
            </a:r>
            <a:r>
              <a:rPr lang="en-US" sz="1800" u="sng">
                <a:solidFill>
                  <a:schemeClr val="hlink"/>
                </a:solidFill>
                <a:hlinkClick r:id="rId6"/>
              </a:rPr>
              <a:t>https://pmc.ncbi.nlm.nih.gov/articles/PMC8437217/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</a:pPr>
            <a:r>
              <a:rPr lang="en-US" sz="1800" u="sng">
                <a:solidFill>
                  <a:schemeClr val="hlink"/>
                </a:solidFill>
                <a:hlinkClick r:id="rId7"/>
              </a:rPr>
              <a:t>https://pmc.ncbi.nlm.nih.gov/articles/PMC9069814/</a:t>
            </a:r>
            <a:r>
              <a:rPr lang="en-US" sz="1800">
                <a:solidFill>
                  <a:schemeClr val="lt1"/>
                </a:solidFill>
              </a:rPr>
              <a:t> 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2026-04-22T22:08:20Z</dcterms:created>
  <dc:creator>PptxGenJS</dc:creator>
</cp:coreProperties>
</file>